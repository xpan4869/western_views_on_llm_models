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75" r:id="rId3"/>
    <p:sldId id="278" r:id="rId4"/>
    <p:sldId id="263" r:id="rId5"/>
    <p:sldId id="279" r:id="rId6"/>
    <p:sldId id="285" r:id="rId7"/>
    <p:sldId id="281" r:id="rId8"/>
    <p:sldId id="290" r:id="rId9"/>
    <p:sldId id="286" r:id="rId10"/>
    <p:sldId id="284" r:id="rId11"/>
    <p:sldId id="296" r:id="rId12"/>
    <p:sldId id="298" r:id="rId13"/>
    <p:sldId id="311" r:id="rId14"/>
    <p:sldId id="283" r:id="rId15"/>
    <p:sldId id="309" r:id="rId16"/>
    <p:sldId id="324" r:id="rId17"/>
    <p:sldId id="323" r:id="rId18"/>
    <p:sldId id="328" r:id="rId19"/>
    <p:sldId id="310" r:id="rId20"/>
    <p:sldId id="326" r:id="rId21"/>
    <p:sldId id="291" r:id="rId22"/>
    <p:sldId id="294" r:id="rId23"/>
    <p:sldId id="316" r:id="rId24"/>
    <p:sldId id="319" r:id="rId25"/>
    <p:sldId id="305" r:id="rId26"/>
    <p:sldId id="288" r:id="rId27"/>
    <p:sldId id="271" r:id="rId28"/>
    <p:sldId id="289" r:id="rId29"/>
    <p:sldId id="327" r:id="rId30"/>
    <p:sldId id="321" r:id="rId31"/>
    <p:sldId id="293" r:id="rId32"/>
    <p:sldId id="295" r:id="rId33"/>
    <p:sldId id="292" r:id="rId34"/>
    <p:sldId id="308" r:id="rId35"/>
    <p:sldId id="312" r:id="rId36"/>
    <p:sldId id="313" r:id="rId37"/>
    <p:sldId id="32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000"/>
    <a:srgbClr val="0073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99" autoAdjust="0"/>
    <p:restoredTop sz="87606"/>
  </p:normalViewPr>
  <p:slideViewPr>
    <p:cSldViewPr snapToGrid="0">
      <p:cViewPr varScale="1">
        <p:scale>
          <a:sx n="99" d="100"/>
          <a:sy n="99" d="100"/>
        </p:scale>
        <p:origin x="208" y="360"/>
      </p:cViewPr>
      <p:guideLst/>
    </p:cSldViewPr>
  </p:slideViewPr>
  <p:notesTextViewPr>
    <p:cViewPr>
      <p:scale>
        <a:sx n="90" d="100"/>
        <a:sy n="90" d="100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6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8535C-9215-406D-B53F-0A915C0889A5}" type="datetimeFigureOut">
              <a:rPr lang="en-US" smtClean="0"/>
              <a:t>3/9/25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FFFD9-6CD9-4CCA-9333-E12A091AF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28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0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30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98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3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06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02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1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20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09390-AE3A-AA6D-BEC2-6B3D3FE6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E17EA-02F2-51C1-73EA-DFAB9444D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41ADA-6769-ABE7-8FF9-7E102D047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F9FBB-217E-2869-E0CC-6C236E920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59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6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55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38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12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B7FB-1EC2-BD08-C15D-27C60A4F5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BB420-29AA-A922-31A8-D11DC2F3D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B5197-4541-F4ED-DE3F-86F4C61B8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DE2D5-C791-9484-76BB-F55BD1083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98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527CA-4A65-70B1-2D47-74968CEB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C5127-A0AB-045F-EA7F-83AA81CED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B1C98-C468-E56B-329B-1FFD65614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BA7DB-E54E-C046-34C6-C49D15C13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637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7A33-1238-0E12-5AB3-36BFBC547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0F819-16F4-5710-3D77-8C26A9C2B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BEB01-0F99-BBF1-6DF8-7999381C1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6A370-970E-B926-6816-7880CC1DB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20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79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208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03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568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74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04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10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986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71B48-595D-35CD-FAEE-F5F4770D5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00617-5A07-3B1A-8F25-1FF016B3C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9C060-0F29-2CE3-3E5E-BA901E1A2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C510C-9C97-ED00-29C3-AF39BB9324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AFFFD9-6CD9-4CCA-9333-E12A091AFB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2454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870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2B4F9-5509-2D50-3F7C-BFEEF2A0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353F6-5595-C7B2-801B-7FA907DDC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19D4F-524C-0C3B-3ED2-BFAC1A11F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9FF6A-AA82-B860-8224-EC5A83AA5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244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237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temporal analysis of sentiment categories reveals interesting patterns. After the DeepSeek-R1 release (marked by the blue vertical line), there's a notable divergence in sentiment trends. While ChatGPT maintains relatively stable sentiment distributions, </a:t>
            </a:r>
            <a:r>
              <a:rPr lang="en-US" dirty="0" err="1"/>
              <a:t>DeepSeek</a:t>
            </a:r>
            <a:r>
              <a:rPr lang="en-US" dirty="0"/>
              <a:t> experiences both a sharp decline in positive sentiment and an increase in negative sentiment before eventually stabilizing.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91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FFFD9-6CD9-4CCA-9333-E12A091AFB1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1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4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8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7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9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3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5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8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8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7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9DC3E-A881-461F-A5A2-1819DD375F69}" type="datetimeFigureOut">
              <a:rPr lang="en-US" smtClean="0"/>
              <a:t>3/9/25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2F9DC-CCD1-4505-BA31-79E262D0E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94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eMbICh3nlS8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aartengr.github.io/BERTopic/index.html" TargetMode="External"/><Relationship Id="rId4" Type="http://schemas.openxmlformats.org/officeDocument/2006/relationships/hyperlink" Target="https://huggingface.co/SamLowe/roberta-base-go_emotion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tic-shift.photon-reddit.com/download-too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slide" Target="slide3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609/aaai.v31i1.10635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maartengr.github.io/BERTopic/index.html" TargetMode="External"/><Relationship Id="rId4" Type="http://schemas.openxmlformats.org/officeDocument/2006/relationships/hyperlink" Target="https://huggingface.co/SamLowe/roberta-base-go_emotions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1524000" y="141282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Narratives</a:t>
            </a:r>
            <a:r>
              <a:rPr lang="zh-CN" altLang="en-US" sz="32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32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Innovation: </a:t>
            </a:r>
            <a:br>
              <a:rPr lang="en-US" altLang="zh-CN" sz="32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32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32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Textual Analysis of Western Social Media’s View on ChatGPT and </a:t>
            </a:r>
            <a:r>
              <a:rPr lang="en-US" altLang="zh-CN" sz="3200" b="1" dirty="0" err="1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endParaRPr lang="en-US" sz="32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535333" y="5192216"/>
            <a:ext cx="4147150" cy="81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 err="1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Xinyue</a:t>
            </a:r>
            <a:r>
              <a:rPr lang="en-US" sz="2000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‘Yolanda’ Pan</a:t>
            </a:r>
          </a:p>
          <a:p>
            <a:pPr algn="r"/>
            <a:r>
              <a:rPr lang="en-US" sz="2000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MACSS, Social Science Division</a:t>
            </a:r>
          </a:p>
        </p:txBody>
      </p:sp>
      <p:pic>
        <p:nvPicPr>
          <p:cNvPr id="1028" name="Picture 4" descr="Social Sciences Computing Services">
            <a:extLst>
              <a:ext uri="{FF2B5EF4-FFF2-40B4-BE49-F238E27FC236}">
                <a16:creationId xmlns:a16="http://schemas.microsoft.com/office/drawing/2014/main" id="{D106D372-9AD7-D2CE-989E-550C54EA3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18" y="428626"/>
            <a:ext cx="2114002" cy="89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D43ECA-B2AD-DCA3-DC65-1196075E48DA}"/>
              </a:ext>
            </a:extLst>
          </p:cNvPr>
          <p:cNvSpPr txBox="1">
            <a:spLocks/>
          </p:cNvSpPr>
          <p:nvPr/>
        </p:nvSpPr>
        <p:spPr>
          <a:xfrm>
            <a:off x="1783019" y="34290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C91A0D7-94B3-570D-B649-C63136C25FC3}"/>
              </a:ext>
            </a:extLst>
          </p:cNvPr>
          <p:cNvSpPr txBox="1">
            <a:spLocks/>
          </p:cNvSpPr>
          <p:nvPr/>
        </p:nvSpPr>
        <p:spPr>
          <a:xfrm>
            <a:off x="1665111" y="3988137"/>
            <a:ext cx="9144000" cy="712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 9</a:t>
            </a:r>
            <a:r>
              <a:rPr lang="en-US" sz="2000" baseline="30000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000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2025</a:t>
            </a:r>
          </a:p>
          <a:p>
            <a:r>
              <a:rPr lang="en-US" altLang="zh-CN" sz="2000" i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r>
              <a:rPr lang="zh-CN" altLang="en-US" sz="2000" i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zh-CN" altLang="en-US" sz="2000" i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</a:t>
            </a:r>
            <a:r>
              <a:rPr lang="zh-CN" altLang="en-US" sz="2000" i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https://www.youtube.com/watch?v=eMbICh3nlS8</a:t>
            </a:r>
            <a:r>
              <a:rPr lang="en-US" altLang="zh-CN" sz="2000" i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i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70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E0FB0-A9F6-02D0-A5A4-4B740498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F5D1C7-F602-0B67-62D0-848564B997FD}"/>
              </a:ext>
            </a:extLst>
          </p:cNvPr>
          <p:cNvSpPr txBox="1">
            <a:spLocks/>
          </p:cNvSpPr>
          <p:nvPr/>
        </p:nvSpPr>
        <p:spPr>
          <a:xfrm>
            <a:off x="1167752" y="342368"/>
            <a:ext cx="10515600" cy="9425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tent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D364439-B891-F9B8-5B64-F34310A60207}"/>
              </a:ext>
            </a:extLst>
          </p:cNvPr>
          <p:cNvSpPr txBox="1">
            <a:spLocks/>
          </p:cNvSpPr>
          <p:nvPr/>
        </p:nvSpPr>
        <p:spPr>
          <a:xfrm>
            <a:off x="1688951" y="1375324"/>
            <a:ext cx="9134559" cy="4656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zh-CN" alt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EDA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xploration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Emotional</a:t>
            </a:r>
            <a:r>
              <a:rPr lang="zh-CN" altLang="en-US" sz="24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Narratives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</a:p>
          <a:p>
            <a:pPr lvl="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Discussion</a:t>
            </a:r>
          </a:p>
        </p:txBody>
      </p:sp>
    </p:spTree>
    <p:extLst>
      <p:ext uri="{BB962C8B-B14F-4D97-AF65-F5344CB8AC3E}">
        <p14:creationId xmlns:p14="http://schemas.microsoft.com/office/powerpoint/2010/main" val="123868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1711-A49F-427E-3F71-4C342F9D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1168E15-3763-4F94-C495-323D3299F0F8}"/>
              </a:ext>
            </a:extLst>
          </p:cNvPr>
          <p:cNvSpPr txBox="1">
            <a:spLocks/>
          </p:cNvSpPr>
          <p:nvPr/>
        </p:nvSpPr>
        <p:spPr>
          <a:xfrm>
            <a:off x="4093832" y="2357406"/>
            <a:ext cx="4372436" cy="9425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9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994" y="262353"/>
            <a:ext cx="10439749" cy="820089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6995" y="1156806"/>
            <a:ext cx="9666516" cy="5000154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b="1" i="0" dirty="0">
                <a:solidFill>
                  <a:srgbClr val="7D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US" altLang="zh-TW" b="1" i="0" dirty="0">
              <a:solidFill>
                <a:srgbClr val="7D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rise of </a:t>
            </a:r>
            <a:r>
              <a:rPr lang="en-US" sz="18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and other large language models (LLMs) marks both a technological milestone and an opportunity to explore the geopolitical and cultural tensions in the global AI landscape. This study examines how predominantly English-speaking social media platforms, particularly Reddit, shape perceptions of AI models like ChatGPT (developed in the U.S.) and </a:t>
            </a:r>
            <a:r>
              <a:rPr lang="en-US" sz="18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(developed in China).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180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b="1" i="0" dirty="0">
                <a:solidFill>
                  <a:srgbClr val="7D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zh-CN" altLang="en-US" b="1" i="0" dirty="0">
                <a:solidFill>
                  <a:srgbClr val="7D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7D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  <a:endParaRPr lang="en-US" altLang="zh-TW" b="1" i="0" dirty="0">
              <a:solidFill>
                <a:srgbClr val="7D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narratives emerge from Western Reddit communities’ discussions about ChatGPT and </a:t>
            </a:r>
            <a:r>
              <a:rPr lang="en-US" sz="18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how do these narratives reflect user perceptions of AI innovation?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160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Formulation</a:t>
            </a:r>
            <a:endParaRPr lang="en-US" altLang="zh-CN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18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emotion/sentiment labeling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1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RoBERTa-base-go_emotions</a:t>
            </a:r>
            <a:r>
              <a:rPr lang="en-US" sz="1800" i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(super</a:t>
            </a:r>
            <a:r>
              <a:rPr lang="en-US" altLang="zh-CN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vised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(2) </a:t>
            </a:r>
            <a:r>
              <a:rPr lang="en-US" sz="18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modeling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BERTopic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unsupervised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to identify narrative themes, and (3) </a:t>
            </a:r>
            <a:r>
              <a:rPr lang="en-US" sz="18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(unsupervised)</a:t>
            </a:r>
            <a:r>
              <a:rPr lang="zh-CN" alt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18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BERTopic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probability outputs to group similar narratives and answer the research question.</a:t>
            </a:r>
          </a:p>
        </p:txBody>
      </p:sp>
    </p:spTree>
    <p:extLst>
      <p:ext uri="{BB962C8B-B14F-4D97-AF65-F5344CB8AC3E}">
        <p14:creationId xmlns:p14="http://schemas.microsoft.com/office/powerpoint/2010/main" val="262205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8DE57-0AC8-2098-71D4-1107C1B3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AA182-331A-5F7B-A74C-384F8DBB6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035" y="364327"/>
            <a:ext cx="9666516" cy="2549562"/>
          </a:xfrm>
        </p:spPr>
        <p:txBody>
          <a:bodyPr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Theory of Orientalism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</a:rPr>
              <a:t>Edward Said’s theory of Orientalism (1977) provides a critical framework for understanding how the West constructs the "Other," often framing Chinese AI technologies like </a:t>
            </a:r>
            <a:r>
              <a:rPr lang="en-US" altLang="zh-CN" sz="1600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</a:rPr>
              <a:t> as exotic, inferior, or threatening, while portraying Western models like ChatGPT as symbols of innovation and superiority. This study explores how Western social media users on Reddit (e.g., r/ChatGPT and r/</a:t>
            </a:r>
            <a:r>
              <a:rPr lang="en-US" altLang="zh-CN" sz="1600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</a:rPr>
              <a:t>) reinforce these Orientalist narratives, reflecting broader geopolitical tensions and cultural biases. While the Reddit community is predominantly tech-savvy and Western-centric, it offers valuable insights into how power dynamics shape global AI discourse, particularly in the context of rising competition between the West and China. </a:t>
            </a:r>
            <a:endParaRPr lang="en-US" sz="16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D8DEA-2A78-8E1C-D895-6E5FC5427201}"/>
              </a:ext>
            </a:extLst>
          </p:cNvPr>
          <p:cNvSpPr txBox="1"/>
          <p:nvPr/>
        </p:nvSpPr>
        <p:spPr>
          <a:xfrm>
            <a:off x="1096035" y="2705123"/>
            <a:ext cx="9666516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n-US" altLang="zh-CN" sz="1600" dirty="0">
                <a:solidFill>
                  <a:schemeClr val="accent4">
                    <a:lumMod val="10000"/>
                  </a:schemeClr>
                </a:solidFill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Hypothesis</a:t>
            </a:r>
            <a:endParaRPr lang="en-US" altLang="zh-CN" sz="1600" dirty="0">
              <a:solidFill>
                <a:schemeClr val="accent4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10000"/>
                  </a:schemeClr>
                </a:solidFill>
              </a:rPr>
              <a:t>H1: Sentiment towards </a:t>
            </a:r>
            <a:r>
              <a:rPr lang="en-US" sz="1600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r>
              <a:rPr lang="en-US" sz="1600" dirty="0">
                <a:solidFill>
                  <a:schemeClr val="accent4">
                    <a:lumMod val="10000"/>
                  </a:schemeClr>
                </a:solidFill>
              </a:rPr>
              <a:t> will be more negative and emotionally charged compared to ChatGPT, reflecting cultural stereotypes about Chinese LLMs. 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4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10000"/>
                  </a:schemeClr>
                </a:solidFill>
              </a:rPr>
              <a:t>H2: Discussions about Chinese LLMs will frequently feature terms like "surveillance" or "authoritarianism," while Western LLMs will emphasize "freedom," "creativity," and "leadership."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4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10000"/>
                  </a:schemeClr>
                </a:solidFill>
              </a:rPr>
              <a:t>H3: Clustering of </a:t>
            </a:r>
            <a:r>
              <a:rPr lang="en-US" sz="1600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r>
              <a:rPr lang="en-US" sz="1600" dirty="0">
                <a:solidFill>
                  <a:schemeClr val="accent4">
                    <a:lumMod val="10000"/>
                  </a:schemeClr>
                </a:solidFill>
              </a:rPr>
              <a:t> discussions will group granular topics into broader themes, with "geopolitical risks" exhibiting more negative sentiment than "technical capabilities."</a:t>
            </a:r>
            <a:endParaRPr lang="en-US" altLang="zh-CN" sz="1600" dirty="0">
              <a:solidFill>
                <a:schemeClr val="accent4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61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3A47-9841-8CD8-83E4-8755CBCC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FEB069A-FFE0-B51C-CD82-671356825734}"/>
              </a:ext>
            </a:extLst>
          </p:cNvPr>
          <p:cNvSpPr txBox="1">
            <a:spLocks/>
          </p:cNvSpPr>
          <p:nvPr/>
        </p:nvSpPr>
        <p:spPr>
          <a:xfrm>
            <a:off x="2933205" y="2357406"/>
            <a:ext cx="5913912" cy="9425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22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BD1E7-8FE7-C89A-120E-C32086516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18A6-5CDD-314C-E90F-6AD0007A3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738" y="221135"/>
            <a:ext cx="10045168" cy="652047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FBF2E-F0EB-46AC-2D12-EAF815054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737" y="975361"/>
            <a:ext cx="10045168" cy="4547616"/>
          </a:xfrm>
        </p:spPr>
        <p:txBody>
          <a:bodyPr>
            <a:no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</a:p>
          <a:p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</a:rPr>
              <a:t>Data</a:t>
            </a:r>
            <a:r>
              <a:rPr lang="zh-CN" altLang="en-US" sz="16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</a:rPr>
              <a:t>Collection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Source: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arctic-shift</a:t>
            </a:r>
            <a:endParaRPr lang="en-US" altLang="zh-CN" sz="1400" dirty="0">
              <a:solidFill>
                <a:schemeClr val="accent4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Subreddits: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i="1" dirty="0">
                <a:solidFill>
                  <a:schemeClr val="accent4">
                    <a:lumMod val="10000"/>
                  </a:schemeClr>
                </a:solidFill>
              </a:rPr>
              <a:t>r/ChatGPT,</a:t>
            </a:r>
            <a:r>
              <a:rPr lang="zh-CN" altLang="en-US" sz="1400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i="1" dirty="0">
                <a:solidFill>
                  <a:schemeClr val="accent4">
                    <a:lumMod val="10000"/>
                  </a:schemeClr>
                </a:solidFill>
              </a:rPr>
              <a:t>r/</a:t>
            </a:r>
            <a:r>
              <a:rPr lang="en-US" altLang="zh-CN" sz="1400" i="1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r>
              <a:rPr lang="en-US" altLang="zh-CN" sz="1400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Size:  641, 961 in total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Time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Range: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 2024/12/27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- 2025/03/03</a:t>
            </a:r>
          </a:p>
          <a:p>
            <a:r>
              <a:rPr lang="en-US" sz="1600" dirty="0">
                <a:solidFill>
                  <a:schemeClr val="accent4">
                    <a:lumMod val="10000"/>
                  </a:schemeClr>
                </a:solidFill>
              </a:rPr>
              <a:t>Preprocess data: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Remove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comments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that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below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12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words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(medium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quartile)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and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above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96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words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(95</a:t>
            </a:r>
            <a:r>
              <a:rPr lang="en-US" altLang="zh-CN" sz="1400" baseline="30000" dirty="0">
                <a:solidFill>
                  <a:schemeClr val="accent4">
                    <a:lumMod val="10000"/>
                  </a:schemeClr>
                </a:solidFill>
              </a:rPr>
              <a:t>th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percentile)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Remove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mentions,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special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characters,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URLs,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bot</a:t>
            </a:r>
            <a:r>
              <a:rPr lang="zh-CN" altLang="en-US" sz="14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replies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4">
                    <a:lumMod val="10000"/>
                  </a:schemeClr>
                </a:solidFill>
              </a:rPr>
              <a:t>C</a:t>
            </a:r>
            <a:r>
              <a:rPr lang="en-US" sz="1400" dirty="0">
                <a:solidFill>
                  <a:schemeClr val="accent4">
                    <a:lumMod val="10000"/>
                  </a:schemeClr>
                </a:solidFill>
              </a:rPr>
              <a:t>onvert the </a:t>
            </a:r>
            <a:r>
              <a:rPr lang="en-US" sz="1400" dirty="0" err="1">
                <a:solidFill>
                  <a:schemeClr val="accent4">
                    <a:lumMod val="10000"/>
                  </a:schemeClr>
                </a:solidFill>
              </a:rPr>
              <a:t>unix</a:t>
            </a:r>
            <a:r>
              <a:rPr lang="en-US" sz="1400" dirty="0">
                <a:solidFill>
                  <a:schemeClr val="accent4">
                    <a:lumMod val="10000"/>
                  </a:schemeClr>
                </a:solidFill>
              </a:rPr>
              <a:t> timestamp to readable date</a:t>
            </a:r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E148BE6A-4662-0022-5D34-3EA03B9B0B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054" y="4078307"/>
            <a:ext cx="6478274" cy="255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9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586E-0400-7E51-60D7-300947A3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5D57-7345-6A05-393B-2C55335B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737" y="221135"/>
            <a:ext cx="10439749" cy="65204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Exploratory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Analysis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724888-75D1-677D-AA0D-19B547238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737" y="1238329"/>
            <a:ext cx="5896663" cy="4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4B338F-49C2-3208-2B09-070A47BE24B9}"/>
              </a:ext>
            </a:extLst>
          </p:cNvPr>
          <p:cNvSpPr txBox="1"/>
          <p:nvPr/>
        </p:nvSpPr>
        <p:spPr>
          <a:xfrm>
            <a:off x="7388352" y="1921276"/>
            <a:ext cx="454308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</a:rPr>
              <a:t>Important dates: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2024/12/26: DeepSeek-V3 release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2024/12/27: First comment appear on r/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DeepSeek</a:t>
            </a:r>
            <a:endParaRPr lang="en-US" dirty="0">
              <a:solidFill>
                <a:srgbClr val="1F1F1F"/>
              </a:solidFill>
              <a:latin typeface="Roboto" panose="0200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2025/1/20: DeepSeek-R1 release date</a:t>
            </a:r>
            <a:endParaRPr lang="en-US" altLang="zh-CN" sz="1200" dirty="0">
              <a:solidFill>
                <a:schemeClr val="accent4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10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DB58-7D76-8FFA-CA64-B8AFA21E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5C0A85F-94AF-1A4B-8522-A6E0129BC59E}"/>
              </a:ext>
            </a:extLst>
          </p:cNvPr>
          <p:cNvSpPr txBox="1">
            <a:spLocks/>
          </p:cNvSpPr>
          <p:nvPr/>
        </p:nvSpPr>
        <p:spPr>
          <a:xfrm>
            <a:off x="1556950" y="2357407"/>
            <a:ext cx="9181071" cy="10715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Exploration/Interpretation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7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47F3-666E-12AF-D708-39875CE7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9206-77DD-D60E-15AD-A412E3EF1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94" y="262353"/>
            <a:ext cx="10439749" cy="820089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Emotional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Narratives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AFA84D-1D71-2E51-A149-B094638EF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995" y="1260071"/>
            <a:ext cx="9666516" cy="498833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4">
                    <a:lumMod val="10000"/>
                  </a:schemeClr>
                </a:solidFill>
              </a:rPr>
              <a:t>Model: </a:t>
            </a:r>
            <a:r>
              <a:rPr lang="en-US" sz="2000" i="1" dirty="0" err="1">
                <a:solidFill>
                  <a:schemeClr val="accent4">
                    <a:lumMod val="10000"/>
                  </a:schemeClr>
                </a:solidFill>
              </a:rPr>
              <a:t>SamLowe</a:t>
            </a:r>
            <a:r>
              <a:rPr lang="en-US" sz="2000" i="1" dirty="0">
                <a:solidFill>
                  <a:schemeClr val="accent4">
                    <a:lumMod val="10000"/>
                  </a:schemeClr>
                </a:solidFill>
              </a:rPr>
              <a:t>/</a:t>
            </a:r>
            <a:r>
              <a:rPr lang="en-US" sz="2000" i="1" dirty="0" err="1">
                <a:solidFill>
                  <a:schemeClr val="accent4">
                    <a:lumMod val="10000"/>
                  </a:schemeClr>
                </a:solidFill>
              </a:rPr>
              <a:t>roberta</a:t>
            </a:r>
            <a:r>
              <a:rPr lang="en-US" sz="2000" i="1" dirty="0">
                <a:solidFill>
                  <a:schemeClr val="accent4">
                    <a:lumMod val="10000"/>
                  </a:schemeClr>
                </a:solidFill>
              </a:rPr>
              <a:t>-base-</a:t>
            </a:r>
            <a:r>
              <a:rPr lang="en-US" sz="2000" i="1" dirty="0" err="1">
                <a:solidFill>
                  <a:schemeClr val="accent4">
                    <a:lumMod val="10000"/>
                  </a:schemeClr>
                </a:solidFill>
              </a:rPr>
              <a:t>go_emotions</a:t>
            </a:r>
            <a:endParaRPr lang="en-US" sz="2000" i="1" dirty="0">
              <a:solidFill>
                <a:schemeClr val="accent4">
                  <a:lumMod val="10000"/>
                </a:schemeClr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4">
                    <a:lumMod val="10000"/>
                  </a:schemeClr>
                </a:solidFill>
              </a:rPr>
              <a:t> Widely used and trained based on Reddit data with 28 emotion labels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Evaluation: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Randomly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sampled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50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input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to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check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its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label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i="1" dirty="0">
                <a:solidFill>
                  <a:schemeClr val="accent4">
                    <a:lumMod val="10000"/>
                  </a:schemeClr>
                </a:solidFill>
              </a:rPr>
              <a:t>emotion</a:t>
            </a:r>
            <a:r>
              <a:rPr lang="zh-CN" altLang="en-US" i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10000"/>
                  </a:schemeClr>
                </a:solidFill>
              </a:rPr>
              <a:t>Data Processing: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4">
                    <a:lumMod val="10000"/>
                  </a:schemeClr>
                </a:solidFill>
              </a:rPr>
              <a:t> Drop emotion category with less than 5 posts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4">
                    <a:lumMod val="10000"/>
                  </a:schemeClr>
                </a:solidFill>
              </a:rPr>
              <a:t> Drop neutral emotions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4">
                    <a:lumMod val="10000"/>
                  </a:schemeClr>
                </a:solidFill>
              </a:rPr>
              <a:t> Map emotions into sentiment of ‘positive’, ‘negative’, ‘neutral, and ‘ambiguous’</a:t>
            </a:r>
          </a:p>
        </p:txBody>
      </p:sp>
    </p:spTree>
    <p:extLst>
      <p:ext uri="{BB962C8B-B14F-4D97-AF65-F5344CB8AC3E}">
        <p14:creationId xmlns:p14="http://schemas.microsoft.com/office/powerpoint/2010/main" val="2218367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43397-F963-8999-1DE8-9C696194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DC1CE6-C979-9E3A-081B-1C36533FEF77}"/>
              </a:ext>
            </a:extLst>
          </p:cNvPr>
          <p:cNvSpPr txBox="1">
            <a:spLocks/>
          </p:cNvSpPr>
          <p:nvPr/>
        </p:nvSpPr>
        <p:spPr>
          <a:xfrm>
            <a:off x="1141496" y="1120470"/>
            <a:ext cx="10014109" cy="54713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4">
                    <a:lumMod val="10000"/>
                  </a:schemeClr>
                </a:solidFill>
              </a:rPr>
              <a:t>Model: </a:t>
            </a:r>
            <a:r>
              <a:rPr lang="en-US" altLang="zh-CN" sz="2000" i="1" dirty="0" err="1">
                <a:solidFill>
                  <a:schemeClr val="accent4">
                    <a:lumMod val="10000"/>
                  </a:schemeClr>
                </a:solidFill>
              </a:rPr>
              <a:t>BERTopic</a:t>
            </a:r>
            <a:endParaRPr lang="en-US" altLang="zh-CN" sz="2000" i="1" dirty="0">
              <a:solidFill>
                <a:schemeClr val="accent4">
                  <a:lumMod val="1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10000"/>
                  </a:schemeClr>
                </a:solidFill>
              </a:rPr>
              <a:t>Traditional clustering methods (like K-Means) rely on Euclidean distance, which does not capture semantic similarity well.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4">
                    <a:lumMod val="10000"/>
                  </a:schemeClr>
                </a:solidFill>
              </a:rPr>
              <a:t>BERTopic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</a:rPr>
              <a:t> converts documents into embeddings using transformer models (e.g., sentence-transformers), which better represent meaning.</a:t>
            </a:r>
            <a:endParaRPr lang="en-US" sz="2000" b="1" i="1" dirty="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10000"/>
                  </a:schemeClr>
                </a:solidFill>
              </a:rPr>
              <a:t>Model</a:t>
            </a:r>
            <a:r>
              <a:rPr lang="zh-CN" altLang="en-US" sz="2000" b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4">
                    <a:lumMod val="10000"/>
                  </a:schemeClr>
                </a:solidFill>
              </a:rPr>
              <a:t>Tuning:</a:t>
            </a:r>
            <a:endParaRPr lang="en-US" sz="2000" b="1" i="1" dirty="0">
              <a:solidFill>
                <a:schemeClr val="accent4">
                  <a:lumMod val="1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10000"/>
                  </a:schemeClr>
                </a:solidFill>
              </a:rPr>
              <a:t>Set stop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10000"/>
                  </a:schemeClr>
                </a:solidFill>
              </a:rPr>
              <a:t>Start without setting number of topics (too many identified topics and too large to run)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10000"/>
                  </a:schemeClr>
                </a:solidFill>
              </a:rPr>
              <a:t>Set number of topics to 50, and reduced to 20, rearrange outliers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10000"/>
                  </a:schemeClr>
                </a:solidFill>
              </a:rPr>
              <a:t>Stratified by date and random sampling from r/ChatGPT (1/10) to benchmark number of r/</a:t>
            </a:r>
            <a:r>
              <a:rPr lang="en-US" sz="1600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endParaRPr lang="en-US" sz="1600" dirty="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10000"/>
                  </a:schemeClr>
                </a:solidFill>
              </a:rPr>
              <a:t>Model Evaluation: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4">
                    <a:lumMod val="10000"/>
                  </a:schemeClr>
                </a:solidFill>
              </a:rPr>
              <a:t> Using LLM to assign themes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4">
                    <a:lumMod val="10000"/>
                  </a:schemeClr>
                </a:solidFill>
              </a:rPr>
              <a:t>Topic-document distribution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4">
                    <a:lumMod val="10000"/>
                  </a:schemeClr>
                </a:solidFill>
              </a:rPr>
              <a:t> Topic Coherence Score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4">
                    <a:lumMod val="10000"/>
                  </a:schemeClr>
                </a:solidFill>
              </a:rPr>
              <a:t> Topic Diversity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3D35F2-E7F8-4A4E-E0CC-C0B481FE5357}"/>
              </a:ext>
            </a:extLst>
          </p:cNvPr>
          <p:cNvSpPr txBox="1">
            <a:spLocks/>
          </p:cNvSpPr>
          <p:nvPr/>
        </p:nvSpPr>
        <p:spPr>
          <a:xfrm>
            <a:off x="1141496" y="45571"/>
            <a:ext cx="10439749" cy="8200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2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CF8E-961E-0CBA-313E-C8AAFE5D0640}"/>
              </a:ext>
            </a:extLst>
          </p:cNvPr>
          <p:cNvSpPr txBox="1">
            <a:spLocks/>
          </p:cNvSpPr>
          <p:nvPr/>
        </p:nvSpPr>
        <p:spPr>
          <a:xfrm>
            <a:off x="1001684" y="262353"/>
            <a:ext cx="10178934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altLang="zh-CN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Themes</a:t>
            </a: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 descr="A graph of a bar graph&#10;&#10;Description automatically generated with medium confidence">
            <a:extLst>
              <a:ext uri="{FF2B5EF4-FFF2-40B4-BE49-F238E27FC236}">
                <a16:creationId xmlns:a16="http://schemas.microsoft.com/office/drawing/2014/main" id="{BBA10078-8D3F-5AE1-5D0B-9F482AE8C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" b="-3"/>
          <a:stretch/>
        </p:blipFill>
        <p:spPr bwMode="auto">
          <a:xfrm>
            <a:off x="6238389" y="2410447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graph of a bar graph&#10;&#10;Description automatically generated with medium confidence">
            <a:extLst>
              <a:ext uri="{FF2B5EF4-FFF2-40B4-BE49-F238E27FC236}">
                <a16:creationId xmlns:a16="http://schemas.microsoft.com/office/drawing/2014/main" id="{98494F83-B7A1-F6BA-3681-2E9F642D3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" b="-2"/>
          <a:stretch/>
        </p:blipFill>
        <p:spPr bwMode="auto">
          <a:xfrm>
            <a:off x="287828" y="2410447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3698B10-ACA5-D4DB-76C3-D835D2FF1C87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Modeling - Model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2E4C39-DF86-28DB-2BD6-B7E7BAF4695B}"/>
              </a:ext>
            </a:extLst>
          </p:cNvPr>
          <p:cNvSpPr txBox="1">
            <a:spLocks/>
          </p:cNvSpPr>
          <p:nvPr/>
        </p:nvSpPr>
        <p:spPr>
          <a:xfrm>
            <a:off x="1156994" y="1134705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Topic-document distribution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5A35EC-80DC-5074-1860-966E4CF5BB4E}"/>
              </a:ext>
            </a:extLst>
          </p:cNvPr>
          <p:cNvCxnSpPr/>
          <p:nvPr/>
        </p:nvCxnSpPr>
        <p:spPr>
          <a:xfrm flipV="1">
            <a:off x="849086" y="5159829"/>
            <a:ext cx="990600" cy="95794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FF39B1-D361-4A13-6B94-05151B211E54}"/>
              </a:ext>
            </a:extLst>
          </p:cNvPr>
          <p:cNvCxnSpPr/>
          <p:nvPr/>
        </p:nvCxnSpPr>
        <p:spPr>
          <a:xfrm flipV="1">
            <a:off x="1189651" y="5159829"/>
            <a:ext cx="990600" cy="95794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066729-DF52-F0EB-26ED-9212FC7B549D}"/>
              </a:ext>
            </a:extLst>
          </p:cNvPr>
          <p:cNvCxnSpPr/>
          <p:nvPr/>
        </p:nvCxnSpPr>
        <p:spPr>
          <a:xfrm flipV="1">
            <a:off x="7056001" y="5159829"/>
            <a:ext cx="990600" cy="95794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D5E7DC-168A-98DE-23DE-03042EFE31AB}"/>
              </a:ext>
            </a:extLst>
          </p:cNvPr>
          <p:cNvCxnSpPr/>
          <p:nvPr/>
        </p:nvCxnSpPr>
        <p:spPr>
          <a:xfrm flipV="1">
            <a:off x="10364189" y="5072743"/>
            <a:ext cx="990600" cy="95794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C125CE-D838-9D06-B73B-9D36DAB63221}"/>
              </a:ext>
            </a:extLst>
          </p:cNvPr>
          <p:cNvSpPr txBox="1"/>
          <p:nvPr/>
        </p:nvSpPr>
        <p:spPr>
          <a:xfrm>
            <a:off x="2795536" y="1768603"/>
            <a:ext cx="3408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4">
                    <a:lumMod val="10000"/>
                  </a:schemeClr>
                </a:solidFill>
              </a:rPr>
              <a:t>ChatGPT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DE668-D241-6A91-9A45-8556B02B6D57}"/>
              </a:ext>
            </a:extLst>
          </p:cNvPr>
          <p:cNvSpPr txBox="1"/>
          <p:nvPr/>
        </p:nvSpPr>
        <p:spPr>
          <a:xfrm>
            <a:off x="8632871" y="1769620"/>
            <a:ext cx="3408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endParaRPr lang="en-US" sz="1800" b="1" dirty="0">
              <a:solidFill>
                <a:schemeClr val="accent4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421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EACB-933F-765F-7525-7ABDD263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AD01-F8F5-3E46-6CEB-D366E4936B5B}"/>
              </a:ext>
            </a:extLst>
          </p:cNvPr>
          <p:cNvSpPr txBox="1">
            <a:spLocks/>
          </p:cNvSpPr>
          <p:nvPr/>
        </p:nvSpPr>
        <p:spPr>
          <a:xfrm>
            <a:off x="1006533" y="241614"/>
            <a:ext cx="10178934" cy="779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altLang="zh-CN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Themes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B62B789-DE2F-870E-B5D9-B9A700BCA189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Modeling - Model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FFF49E5-4520-6003-B7E2-E176D274E223}"/>
              </a:ext>
            </a:extLst>
          </p:cNvPr>
          <p:cNvSpPr txBox="1">
            <a:spLocks/>
          </p:cNvSpPr>
          <p:nvPr/>
        </p:nvSpPr>
        <p:spPr>
          <a:xfrm>
            <a:off x="605434" y="971251"/>
            <a:ext cx="9910166" cy="45080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4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Coherence</a:t>
            </a:r>
            <a:r>
              <a:rPr lang="zh-CN" altLang="en-US" sz="24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&amp; Topic</a:t>
            </a:r>
            <a:r>
              <a:rPr lang="zh-CN" altLang="en-US" sz="24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Diversity</a:t>
            </a:r>
          </a:p>
          <a:p>
            <a:endParaRPr lang="en-US" altLang="zh-CN" sz="24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FA427DE-227F-B13E-0A54-DA5AED7CB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36" y="3188043"/>
            <a:ext cx="3929496" cy="354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32B6F9FB-96DF-D5C5-487E-59F33D29C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268" y="3188043"/>
            <a:ext cx="4063289" cy="366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CA7194-F992-C8F6-A6E0-E9EBF5CD3F75}"/>
              </a:ext>
            </a:extLst>
          </p:cNvPr>
          <p:cNvSpPr txBox="1"/>
          <p:nvPr/>
        </p:nvSpPr>
        <p:spPr>
          <a:xfrm>
            <a:off x="605434" y="1727235"/>
            <a:ext cx="52393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topic overlap: 0.0087 (lower is better) </a:t>
            </a:r>
          </a:p>
          <a:p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num_topics</a:t>
            </a:r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19, </a:t>
            </a:r>
          </a:p>
          <a:p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'diversity': 0.8842105263157894, </a:t>
            </a:r>
          </a:p>
          <a:p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avg_overlap</a:t>
            </a:r>
            <a:r>
              <a:rPr lang="en-US" altLang="zh-CN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0.008720631989330044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CD72EA-4CAE-EC7D-5CE8-5AF6B8A1B5B4}"/>
              </a:ext>
            </a:extLst>
          </p:cNvPr>
          <p:cNvSpPr txBox="1"/>
          <p:nvPr/>
        </p:nvSpPr>
        <p:spPr>
          <a:xfrm>
            <a:off x="6460154" y="1694751"/>
            <a:ext cx="49183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topic overlap: 0.0145 (lower is better) </a:t>
            </a:r>
          </a:p>
          <a:p>
            <a:r>
              <a:rPr lang="en-US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{'</a:t>
            </a:r>
            <a:r>
              <a:rPr lang="en-US" sz="16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num_topics</a:t>
            </a:r>
            <a:r>
              <a:rPr lang="en-US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19, </a:t>
            </a:r>
          </a:p>
          <a:p>
            <a:r>
              <a:rPr lang="en-US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'diversity': 0.8526315789473684, </a:t>
            </a:r>
          </a:p>
          <a:p>
            <a:r>
              <a:rPr lang="en-US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sz="1600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avg_overlap</a:t>
            </a:r>
            <a:r>
              <a:rPr lang="en-US" sz="16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0.0144720245746806,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CD6FD-0966-A3AC-D189-F47CFECAC62C}"/>
              </a:ext>
            </a:extLst>
          </p:cNvPr>
          <p:cNvSpPr txBox="1"/>
          <p:nvPr/>
        </p:nvSpPr>
        <p:spPr>
          <a:xfrm>
            <a:off x="2132335" y="1344635"/>
            <a:ext cx="3408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4">
                    <a:lumMod val="10000"/>
                  </a:schemeClr>
                </a:solidFill>
              </a:rPr>
              <a:t>ChatGPT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A6502-2923-CC96-6A80-B5931168AA38}"/>
              </a:ext>
            </a:extLst>
          </p:cNvPr>
          <p:cNvSpPr txBox="1"/>
          <p:nvPr/>
        </p:nvSpPr>
        <p:spPr>
          <a:xfrm>
            <a:off x="7969670" y="1345652"/>
            <a:ext cx="3408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endParaRPr lang="en-US" sz="1800" b="1" dirty="0">
              <a:solidFill>
                <a:schemeClr val="accent4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0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14C33-FE4F-E2F2-4B66-49711E0C5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AC69F-C6D4-1A5E-B6CD-120A141D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94" y="262353"/>
            <a:ext cx="10439749" cy="820089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(r/</a:t>
            </a:r>
            <a:r>
              <a:rPr lang="en-US" altLang="zh-CN" sz="3600" b="1" dirty="0" err="1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E9F9B-F937-B44D-F2A1-6D340B81E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995" y="1290918"/>
            <a:ext cx="9666516" cy="4970033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4">
                    <a:lumMod val="10000"/>
                  </a:schemeClr>
                </a:solidFill>
              </a:rPr>
              <a:t>Model: </a:t>
            </a:r>
          </a:p>
          <a:p>
            <a:r>
              <a:rPr lang="en-US" sz="2000" dirty="0">
                <a:solidFill>
                  <a:schemeClr val="accent4">
                    <a:lumMod val="10000"/>
                  </a:schemeClr>
                </a:solidFill>
              </a:rPr>
              <a:t>- K-Means applied to sentence embeddings from BERT (e.g., sentence-transformers’ all-MiniLM-L6-v2)</a:t>
            </a:r>
            <a:endParaRPr lang="en-US" altLang="zh-CN" sz="2000" i="1" dirty="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accent4">
                    <a:lumMod val="10000"/>
                  </a:schemeClr>
                </a:solidFill>
              </a:rPr>
              <a:t>- Hierarchical clustering</a:t>
            </a:r>
          </a:p>
          <a:p>
            <a:endParaRPr lang="en-US" sz="2000" b="1" dirty="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10000"/>
                  </a:schemeClr>
                </a:solidFill>
              </a:rPr>
              <a:t>Process</a:t>
            </a:r>
            <a:r>
              <a:rPr lang="en-US" sz="2000" dirty="0">
                <a:solidFill>
                  <a:schemeClr val="accent4">
                    <a:lumMod val="10000"/>
                  </a:schemeClr>
                </a:solidFill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10000"/>
                  </a:schemeClr>
                </a:solidFill>
              </a:rPr>
              <a:t>Generate embeddings for all posts.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10000"/>
                  </a:schemeClr>
                </a:solidFill>
              </a:rPr>
              <a:t>Determine optimal k (e.g., 5–10 clusters) using elbow method or silhouette score.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10000"/>
                  </a:schemeClr>
                </a:solidFill>
              </a:rPr>
              <a:t>Cluster posts and label clusters by analyzing top keywords and representative texts (e.g., "geopolitical threat" cluster).</a:t>
            </a:r>
          </a:p>
          <a:p>
            <a:pPr lvl="1"/>
            <a:endParaRPr lang="en-US" dirty="0">
              <a:solidFill>
                <a:schemeClr val="accent4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879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E35A-1E51-661E-10FA-08013E6C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E9737-CA7F-EFFD-FE18-4A300E127D4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K-Means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5B17211-A8D5-1AB8-6F0B-BBA56B1B6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234" y="2000343"/>
            <a:ext cx="5828261" cy="348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5D6E9C80-32C5-2B31-86C9-058B1CCE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2505" y="2000343"/>
            <a:ext cx="5828261" cy="348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00E6833-475C-CE0E-4715-792626CF2B76}"/>
              </a:ext>
            </a:extLst>
          </p:cNvPr>
          <p:cNvSpPr/>
          <p:nvPr/>
        </p:nvSpPr>
        <p:spPr>
          <a:xfrm>
            <a:off x="2371472" y="4607967"/>
            <a:ext cx="242711" cy="2427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3A09C7-7CF6-11BA-6D0B-9AEF250C3E28}"/>
              </a:ext>
            </a:extLst>
          </p:cNvPr>
          <p:cNvSpPr/>
          <p:nvPr/>
        </p:nvSpPr>
        <p:spPr>
          <a:xfrm>
            <a:off x="7951873" y="2207666"/>
            <a:ext cx="242711" cy="2427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BD89E96-4EB9-AE4B-0EE4-59E89DEC38C0}"/>
              </a:ext>
            </a:extLst>
          </p:cNvPr>
          <p:cNvSpPr txBox="1">
            <a:spLocks/>
          </p:cNvSpPr>
          <p:nvPr/>
        </p:nvSpPr>
        <p:spPr>
          <a:xfrm>
            <a:off x="1156994" y="324138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k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(k-means)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635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4BD55-9AC9-DD66-9422-479E56319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6FE9-C49A-74ED-D920-1E20D16D598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K-Means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C8A5BF-F594-AE92-0C7D-D6FB8DFB9F6F}"/>
              </a:ext>
            </a:extLst>
          </p:cNvPr>
          <p:cNvSpPr txBox="1">
            <a:spLocks/>
          </p:cNvSpPr>
          <p:nvPr/>
        </p:nvSpPr>
        <p:spPr>
          <a:xfrm>
            <a:off x="1156994" y="324138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k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(hierarchical)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graph with a line&#10;&#10;Description automatically generated">
            <a:extLst>
              <a:ext uri="{FF2B5EF4-FFF2-40B4-BE49-F238E27FC236}">
                <a16:creationId xmlns:a16="http://schemas.microsoft.com/office/drawing/2014/main" id="{BF99D036-A4F8-2A57-EF99-BBC790A1B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158" y="986744"/>
            <a:ext cx="7772400" cy="55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64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E78D-B216-E721-86B5-20A203FD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1CFE82-5AD2-E156-0299-5ADD6F685C6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Topic Distribution (k-means vs hierarchical)</a:t>
            </a: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81EA3804-7398-5FAD-5078-E06AA10AA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739" y="2995899"/>
            <a:ext cx="5828261" cy="288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D2C13840-7755-514E-A153-7AA8840A2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214" y="2967386"/>
            <a:ext cx="5828261" cy="288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81E2884-2791-A45F-78DB-131E61DB06E5}"/>
              </a:ext>
            </a:extLst>
          </p:cNvPr>
          <p:cNvSpPr txBox="1">
            <a:spLocks/>
          </p:cNvSpPr>
          <p:nvPr/>
        </p:nvSpPr>
        <p:spPr>
          <a:xfrm>
            <a:off x="835151" y="677860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(k-means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hierarchical)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49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90D7D-E12F-7893-A324-D7204091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CA2E-245C-D512-919B-C5D304EB5F1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K-Means</a:t>
            </a: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C2BB2A-5AF9-FCA4-A53F-FF04F44F2D0A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 Cloud (k-means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hierarchical)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group of words in a collage&#10;&#10;Description automatically generated">
            <a:extLst>
              <a:ext uri="{FF2B5EF4-FFF2-40B4-BE49-F238E27FC236}">
                <a16:creationId xmlns:a16="http://schemas.microsoft.com/office/drawing/2014/main" id="{730CE068-94E8-7AD0-0CA9-EF41334FB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530" y="2477569"/>
            <a:ext cx="6146433" cy="2883840"/>
          </a:xfrm>
          <a:prstGeom prst="rect">
            <a:avLst/>
          </a:prstGeom>
        </p:spPr>
      </p:pic>
      <p:pic>
        <p:nvPicPr>
          <p:cNvPr id="7" name="Picture 6" descr="A collage of words&#10;&#10;Description automatically generated">
            <a:extLst>
              <a:ext uri="{FF2B5EF4-FFF2-40B4-BE49-F238E27FC236}">
                <a16:creationId xmlns:a16="http://schemas.microsoft.com/office/drawing/2014/main" id="{09343CB1-3A66-E478-B906-FA1F26C3B8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87" y="2549415"/>
            <a:ext cx="5289550" cy="282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22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9E734-B89F-7858-7108-FBD1C6F8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3756-6D7C-739F-1E21-B8D6B271223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K-Means</a:t>
            </a: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100" name="Picture 4" descr="A diagram of a triangle with colored dots&#10;&#10;Description automatically generated">
            <a:extLst>
              <a:ext uri="{FF2B5EF4-FFF2-40B4-BE49-F238E27FC236}">
                <a16:creationId xmlns:a16="http://schemas.microsoft.com/office/drawing/2014/main" id="{9026B1D4-C1BA-431F-6B50-979A34B66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0647" y="1185213"/>
            <a:ext cx="5153245" cy="457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B3865B3-DA72-B8D0-ECDD-046E5B6F64C9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Overviews (k-means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hierarchical)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968E05F5-1885-3EEC-7479-198B0E2A1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6538346" y="1123642"/>
            <a:ext cx="4663007" cy="4635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263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0D79-FDA0-6993-75D9-A77E6258A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4BD41C5-F90D-4780-66AC-563AEC262627}"/>
              </a:ext>
            </a:extLst>
          </p:cNvPr>
          <p:cNvSpPr txBox="1">
            <a:spLocks/>
          </p:cNvSpPr>
          <p:nvPr/>
        </p:nvSpPr>
        <p:spPr>
          <a:xfrm>
            <a:off x="1433380" y="1924915"/>
            <a:ext cx="9181071" cy="15970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84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0B82FB7A-BF87-2DED-EAF1-6B97598A87C6}"/>
              </a:ext>
            </a:extLst>
          </p:cNvPr>
          <p:cNvGrpSpPr/>
          <p:nvPr/>
        </p:nvGrpSpPr>
        <p:grpSpPr>
          <a:xfrm>
            <a:off x="2559817" y="1032389"/>
            <a:ext cx="6632448" cy="4995594"/>
            <a:chOff x="2467011" y="1309575"/>
            <a:chExt cx="6632448" cy="4995594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BE082E87-1E38-F245-E183-E250575C8D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7011" y="1309575"/>
              <a:ext cx="6632448" cy="4995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0662E2-1E1F-B644-2D3D-E94468AD1798}"/>
                </a:ext>
              </a:extLst>
            </p:cNvPr>
            <p:cNvSpPr/>
            <p:nvPr/>
          </p:nvSpPr>
          <p:spPr>
            <a:xfrm>
              <a:off x="7624256" y="2924802"/>
              <a:ext cx="1363884" cy="78707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2E484E8-55F4-D70D-4642-2AD910D2CD56}"/>
                </a:ext>
              </a:extLst>
            </p:cNvPr>
            <p:cNvSpPr/>
            <p:nvPr/>
          </p:nvSpPr>
          <p:spPr>
            <a:xfrm>
              <a:off x="7624256" y="2415515"/>
              <a:ext cx="1363884" cy="19484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42CF64-A861-A849-F75D-30532ED85B24}"/>
                </a:ext>
              </a:extLst>
            </p:cNvPr>
            <p:cNvSpPr/>
            <p:nvPr/>
          </p:nvSpPr>
          <p:spPr>
            <a:xfrm>
              <a:off x="7624256" y="4533683"/>
              <a:ext cx="1363884" cy="6944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3D0DDD-5FF9-F2F4-BB6F-0E5EAF5C8CBC}"/>
                </a:ext>
              </a:extLst>
            </p:cNvPr>
            <p:cNvSpPr/>
            <p:nvPr/>
          </p:nvSpPr>
          <p:spPr>
            <a:xfrm>
              <a:off x="7624256" y="5363482"/>
              <a:ext cx="1363884" cy="19484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6F9426-6305-B7B7-A609-F1C2DDB6E270}"/>
                </a:ext>
              </a:extLst>
            </p:cNvPr>
            <p:cNvSpPr/>
            <p:nvPr/>
          </p:nvSpPr>
          <p:spPr>
            <a:xfrm>
              <a:off x="7624256" y="4024396"/>
              <a:ext cx="1363884" cy="19484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7971BC-17CA-4C69-0CDB-B89A0B95C43E}"/>
              </a:ext>
            </a:extLst>
          </p:cNvPr>
          <p:cNvGrpSpPr/>
          <p:nvPr/>
        </p:nvGrpSpPr>
        <p:grpSpPr>
          <a:xfrm>
            <a:off x="10673974" y="6027983"/>
            <a:ext cx="1518026" cy="774410"/>
            <a:chOff x="996460" y="911104"/>
            <a:chExt cx="9714475" cy="4833204"/>
          </a:xfrm>
        </p:grpSpPr>
        <p:pic>
          <p:nvPicPr>
            <p:cNvPr id="14" name="Picture 2">
              <a:hlinkClick r:id="rId4" action="ppaction://hlinksldjump"/>
              <a:extLst>
                <a:ext uri="{FF2B5EF4-FFF2-40B4-BE49-F238E27FC236}">
                  <a16:creationId xmlns:a16="http://schemas.microsoft.com/office/drawing/2014/main" id="{EECD5BDC-92FB-E63B-D638-5E4E010722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460" y="911104"/>
              <a:ext cx="9714475" cy="48332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D0A66C-4272-0BE2-80A0-E31480FC7219}"/>
                </a:ext>
              </a:extLst>
            </p:cNvPr>
            <p:cNvSpPr/>
            <p:nvPr/>
          </p:nvSpPr>
          <p:spPr>
            <a:xfrm>
              <a:off x="5254906" y="2338086"/>
              <a:ext cx="520861" cy="31251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7B5392-B0D6-3A1A-FDA5-0C41706DA9C3}"/>
                </a:ext>
              </a:extLst>
            </p:cNvPr>
            <p:cNvSpPr/>
            <p:nvPr/>
          </p:nvSpPr>
          <p:spPr>
            <a:xfrm>
              <a:off x="4894349" y="4624417"/>
              <a:ext cx="520861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622263-51F3-7D28-1980-436FE9623D3F}"/>
                </a:ext>
              </a:extLst>
            </p:cNvPr>
            <p:cNvSpPr/>
            <p:nvPr/>
          </p:nvSpPr>
          <p:spPr>
            <a:xfrm>
              <a:off x="4515209" y="5014929"/>
              <a:ext cx="520861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44B4F4-4AD1-DA8B-80A6-6C2C2E382AF6}"/>
                </a:ext>
              </a:extLst>
            </p:cNvPr>
            <p:cNvSpPr/>
            <p:nvPr/>
          </p:nvSpPr>
          <p:spPr>
            <a:xfrm>
              <a:off x="2783051" y="5260257"/>
              <a:ext cx="520861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C8B4CB-64E2-B34B-64F8-A0823C64695F}"/>
                </a:ext>
              </a:extLst>
            </p:cNvPr>
            <p:cNvSpPr/>
            <p:nvPr/>
          </p:nvSpPr>
          <p:spPr>
            <a:xfrm>
              <a:off x="1299939" y="2119422"/>
              <a:ext cx="629222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E5F7765-A562-6E20-9FA8-07D5C5DBB439}"/>
                </a:ext>
              </a:extLst>
            </p:cNvPr>
            <p:cNvSpPr/>
            <p:nvPr/>
          </p:nvSpPr>
          <p:spPr>
            <a:xfrm>
              <a:off x="1614550" y="4739536"/>
              <a:ext cx="629222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0231C8F-EDBE-AE74-6521-2C5A22BFDE58}"/>
                </a:ext>
              </a:extLst>
            </p:cNvPr>
            <p:cNvSpPr/>
            <p:nvPr/>
          </p:nvSpPr>
          <p:spPr>
            <a:xfrm>
              <a:off x="3818773" y="5275753"/>
              <a:ext cx="520861" cy="1214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371BE5B-A1FC-CFD5-7292-8FA79FFB3431}"/>
                </a:ext>
              </a:extLst>
            </p:cNvPr>
            <p:cNvSpPr/>
            <p:nvPr/>
          </p:nvSpPr>
          <p:spPr>
            <a:xfrm>
              <a:off x="10160786" y="2494344"/>
              <a:ext cx="520861" cy="1562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671B45E-2134-5689-6A3E-58187052678F}"/>
                </a:ext>
              </a:extLst>
            </p:cNvPr>
            <p:cNvSpPr/>
            <p:nvPr/>
          </p:nvSpPr>
          <p:spPr>
            <a:xfrm>
              <a:off x="9691869" y="4813059"/>
              <a:ext cx="580129" cy="1562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AEB10B-43C6-1B6C-A41B-7860D8B2E37D}"/>
                </a:ext>
              </a:extLst>
            </p:cNvPr>
            <p:cNvSpPr/>
            <p:nvPr/>
          </p:nvSpPr>
          <p:spPr>
            <a:xfrm>
              <a:off x="8900228" y="5232649"/>
              <a:ext cx="791641" cy="1645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82ACFD7-C9F8-5088-A53D-DA14DFF24CAF}"/>
                </a:ext>
              </a:extLst>
            </p:cNvPr>
            <p:cNvSpPr/>
            <p:nvPr/>
          </p:nvSpPr>
          <p:spPr>
            <a:xfrm>
              <a:off x="7059709" y="1388989"/>
              <a:ext cx="629222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B5F4A0B-63AE-53BD-5482-C05A0431BE21}"/>
                </a:ext>
              </a:extLst>
            </p:cNvPr>
            <p:cNvSpPr/>
            <p:nvPr/>
          </p:nvSpPr>
          <p:spPr>
            <a:xfrm>
              <a:off x="6745098" y="4952991"/>
              <a:ext cx="580129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F8A5F7-98CF-992F-68AD-F5CB7797FF19}"/>
                </a:ext>
              </a:extLst>
            </p:cNvPr>
            <p:cNvSpPr/>
            <p:nvPr/>
          </p:nvSpPr>
          <p:spPr>
            <a:xfrm>
              <a:off x="8385367" y="5353814"/>
              <a:ext cx="502723" cy="1645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F093C0-33AE-DC4B-76F6-7F3700F10182}"/>
                </a:ext>
              </a:extLst>
            </p:cNvPr>
            <p:cNvSpPr/>
            <p:nvPr/>
          </p:nvSpPr>
          <p:spPr>
            <a:xfrm>
              <a:off x="3558342" y="5375365"/>
              <a:ext cx="781292" cy="1214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71F77B1-E622-2244-B148-D85228B545C3}"/>
              </a:ext>
            </a:extLst>
          </p:cNvPr>
          <p:cNvSpPr txBox="1"/>
          <p:nvPr/>
        </p:nvSpPr>
        <p:spPr>
          <a:xfrm>
            <a:off x="543791" y="434770"/>
            <a:ext cx="610292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Emotion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54CCC-C0AE-3650-3037-CDCC636D5079}"/>
              </a:ext>
            </a:extLst>
          </p:cNvPr>
          <p:cNvSpPr txBox="1"/>
          <p:nvPr/>
        </p:nvSpPr>
        <p:spPr>
          <a:xfrm>
            <a:off x="799708" y="6121777"/>
            <a:ext cx="10396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>
                    <a:lumMod val="10000"/>
                  </a:schemeClr>
                </a:solidFill>
              </a:rPr>
              <a:t>* </a:t>
            </a:r>
            <a:r>
              <a:rPr lang="en-US" sz="1400" b="1" dirty="0">
                <a:solidFill>
                  <a:schemeClr val="accent4">
                    <a:lumMod val="10000"/>
                  </a:schemeClr>
                </a:solidFill>
              </a:rPr>
              <a:t>Note</a:t>
            </a:r>
            <a:r>
              <a:rPr lang="en-US" sz="1400" dirty="0">
                <a:solidFill>
                  <a:schemeClr val="accent4">
                    <a:lumMod val="10000"/>
                  </a:schemeClr>
                </a:solidFill>
              </a:rPr>
              <a:t>: Emotions with red box on legend are different between r/ChatGPT and r/</a:t>
            </a:r>
            <a:r>
              <a:rPr lang="en-US" sz="1400" dirty="0" err="1">
                <a:solidFill>
                  <a:schemeClr val="accent4">
                    <a:lumMod val="10000"/>
                  </a:schemeClr>
                </a:solidFill>
              </a:rPr>
              <a:t>Deepseek</a:t>
            </a:r>
            <a:r>
              <a:rPr lang="en-US" sz="1400" dirty="0">
                <a:solidFill>
                  <a:schemeClr val="accent4">
                    <a:lumMod val="10000"/>
                  </a:schemeClr>
                </a:solidFill>
              </a:rPr>
              <a:t> statistically significant </a:t>
            </a:r>
          </a:p>
        </p:txBody>
      </p:sp>
    </p:spTree>
    <p:extLst>
      <p:ext uri="{BB962C8B-B14F-4D97-AF65-F5344CB8AC3E}">
        <p14:creationId xmlns:p14="http://schemas.microsoft.com/office/powerpoint/2010/main" val="4161674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2D4B6EDB-8FCB-5FAC-D10B-D9C22B80C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043" y="1039227"/>
            <a:ext cx="9353914" cy="463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1FC34C-B216-E32D-DF76-699A85F9448B}"/>
              </a:ext>
            </a:extLst>
          </p:cNvPr>
          <p:cNvSpPr txBox="1"/>
          <p:nvPr/>
        </p:nvSpPr>
        <p:spPr>
          <a:xfrm>
            <a:off x="543791" y="434770"/>
            <a:ext cx="610292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7D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Sentiment Distribution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50B070-6DD2-D3F9-274F-ECDE0A562121}"/>
              </a:ext>
            </a:extLst>
          </p:cNvPr>
          <p:cNvSpPr/>
          <p:nvPr/>
        </p:nvSpPr>
        <p:spPr>
          <a:xfrm>
            <a:off x="4259766" y="1569418"/>
            <a:ext cx="892097" cy="2453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A4DBF-9418-A2A0-8634-1DABC2770CA6}"/>
              </a:ext>
            </a:extLst>
          </p:cNvPr>
          <p:cNvSpPr/>
          <p:nvPr/>
        </p:nvSpPr>
        <p:spPr>
          <a:xfrm>
            <a:off x="4802459" y="4865111"/>
            <a:ext cx="892097" cy="2453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B76FB-46E6-6838-F0F4-997E0D7FD3F4}"/>
              </a:ext>
            </a:extLst>
          </p:cNvPr>
          <p:cNvSpPr/>
          <p:nvPr/>
        </p:nvSpPr>
        <p:spPr>
          <a:xfrm>
            <a:off x="9162586" y="1582129"/>
            <a:ext cx="892097" cy="2453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7B942-44F9-4937-BF56-792752DCAF17}"/>
              </a:ext>
            </a:extLst>
          </p:cNvPr>
          <p:cNvSpPr/>
          <p:nvPr/>
        </p:nvSpPr>
        <p:spPr>
          <a:xfrm>
            <a:off x="9437649" y="4987774"/>
            <a:ext cx="892097" cy="2453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5A803-0F09-E38A-FECD-04945CF17E20}"/>
              </a:ext>
            </a:extLst>
          </p:cNvPr>
          <p:cNvSpPr txBox="1"/>
          <p:nvPr/>
        </p:nvSpPr>
        <p:spPr>
          <a:xfrm>
            <a:off x="1419043" y="5763292"/>
            <a:ext cx="86217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Sentiment: negative </a:t>
            </a:r>
          </a:p>
          <a:p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{'chi2': 9.033476394352363, '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0.0026507989413307215, '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is_significant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True} </a:t>
            </a:r>
          </a:p>
          <a:p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{'z-stat': -3.019824603192709, '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0.0025292110778380953, '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is_significant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True} </a:t>
            </a:r>
          </a:p>
          <a:p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Sentiment: positive </a:t>
            </a:r>
          </a:p>
          <a:p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{'chi2': 14.893010644253074, '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0.00011378378002645242, '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is_significant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True} </a:t>
            </a:r>
          </a:p>
          <a:p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{'z-stat': 3.872527356323686, '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0.00010771258170140623, '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is_significant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True}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21202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225B-6C19-424E-5F64-C55C4593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93341-42FC-4646-3DD7-17E93A1C67C6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Terminology Usage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C6AD8FB-C243-7075-CE28-D6178B2BB5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8999"/>
          <a:stretch/>
        </p:blipFill>
        <p:spPr bwMode="auto">
          <a:xfrm>
            <a:off x="1580739" y="894985"/>
            <a:ext cx="6467737" cy="181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FCA351-F5F9-C735-2B12-B30090D550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29" b="24959"/>
          <a:stretch/>
        </p:blipFill>
        <p:spPr bwMode="auto">
          <a:xfrm>
            <a:off x="1580740" y="4592013"/>
            <a:ext cx="6467739" cy="226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8A38C7C-8F69-55DE-2C60-9C5EF77F6B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64" b="54246"/>
          <a:stretch/>
        </p:blipFill>
        <p:spPr bwMode="auto">
          <a:xfrm>
            <a:off x="1580740" y="2682278"/>
            <a:ext cx="6467738" cy="190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461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E3968-8BA8-99D2-0A02-6CB2AD6C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3" name="Rectangle 1127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25359-E46E-51D6-31BA-38478C73410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Word Analysis</a:t>
            </a: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753BB8D-1187-440A-C4AA-98C2197CD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8014" y="1334432"/>
            <a:ext cx="5715821" cy="455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E02E07-00E7-AE28-A658-2037175E6492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zh-CN" altLang="en-US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A6162E2-3186-C1AB-7309-F85CA6B9B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77" y="1343405"/>
            <a:ext cx="5715821" cy="45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621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6E1EA-E389-0A59-BDE6-757C8DB8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E85C-D48E-CD3D-410F-067F875A8ACD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Thematic Clustering (k-means)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AC5860-5C5C-09D7-57AB-ECC90BD7F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503"/>
          <a:stretch/>
        </p:blipFill>
        <p:spPr bwMode="auto">
          <a:xfrm>
            <a:off x="1156993" y="941472"/>
            <a:ext cx="4407371" cy="238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7A78F9B-72F8-9F8B-C775-64D0799F3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24" b="26905"/>
          <a:stretch/>
        </p:blipFill>
        <p:spPr bwMode="auto">
          <a:xfrm>
            <a:off x="6916517" y="941472"/>
            <a:ext cx="4389661" cy="238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D685338-E0B1-CF11-49B5-37C314B191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91"/>
          <a:stretch/>
        </p:blipFill>
        <p:spPr bwMode="auto">
          <a:xfrm>
            <a:off x="6916517" y="3721429"/>
            <a:ext cx="4689002" cy="2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A6C4467-CA26-72AA-1CD9-173F10A730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44" b="53048"/>
          <a:stretch/>
        </p:blipFill>
        <p:spPr bwMode="auto">
          <a:xfrm>
            <a:off x="1156994" y="3721429"/>
            <a:ext cx="4407371" cy="270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CE2AE1-B7DC-740E-1921-C9A81F799274}"/>
              </a:ext>
            </a:extLst>
          </p:cNvPr>
          <p:cNvSpPr txBox="1"/>
          <p:nvPr/>
        </p:nvSpPr>
        <p:spPr>
          <a:xfrm>
            <a:off x="1250117" y="3456142"/>
            <a:ext cx="4221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D0000"/>
                </a:solidFill>
              </a:rPr>
              <a:t>geopolitical concerns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B5E972-75C4-7D26-3C1C-7DD1B4E7DC1C}"/>
              </a:ext>
            </a:extLst>
          </p:cNvPr>
          <p:cNvSpPr txBox="1"/>
          <p:nvPr/>
        </p:nvSpPr>
        <p:spPr>
          <a:xfrm>
            <a:off x="7000786" y="3456141"/>
            <a:ext cx="4221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D0000"/>
                </a:solidFill>
              </a:rPr>
              <a:t>General Usage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A58A2E-8044-43CF-9C1E-9FBEB11FFFFE}"/>
              </a:ext>
            </a:extLst>
          </p:cNvPr>
          <p:cNvSpPr txBox="1"/>
          <p:nvPr/>
        </p:nvSpPr>
        <p:spPr>
          <a:xfrm>
            <a:off x="1343243" y="6287870"/>
            <a:ext cx="4221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D0000"/>
                </a:solidFill>
              </a:rPr>
              <a:t>Technical Implementation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D41EF-D06C-582F-033E-91066DEB228D}"/>
              </a:ext>
            </a:extLst>
          </p:cNvPr>
          <p:cNvSpPr txBox="1"/>
          <p:nvPr/>
        </p:nvSpPr>
        <p:spPr>
          <a:xfrm>
            <a:off x="7085057" y="6302829"/>
            <a:ext cx="4221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D0000"/>
                </a:solidFill>
              </a:rPr>
              <a:t>UI/UX, 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1012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E48E4-159E-006D-115E-CA24D64C0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8CD0-3039-BDB3-AFEB-8291028F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94" y="262353"/>
            <a:ext cx="10439749" cy="820089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7D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Discussions</a:t>
            </a:r>
            <a:endParaRPr lang="en-US" sz="3600" b="1" dirty="0">
              <a:solidFill>
                <a:srgbClr val="7D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F9E7C-566D-9280-2C2D-24964372B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995" y="1290918"/>
            <a:ext cx="9666516" cy="497003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>
                    <a:lumMod val="10000"/>
                  </a:schemeClr>
                </a:solidFill>
              </a:rPr>
              <a:t>Limitations</a:t>
            </a:r>
            <a:r>
              <a:rPr lang="en-US" dirty="0">
                <a:solidFill>
                  <a:schemeClr val="accent4">
                    <a:lumMod val="10000"/>
                  </a:schemeClr>
                </a:solidFill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 Reddit sample represents tech-savvy Western users, not general population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 Limited time frame (3 months) may not capture long-term trends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 Clustering may oversimplify nuanced discussions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accent4">
                  <a:lumMod val="10000"/>
                </a:schemeClr>
              </a:solidFill>
            </a:endParaRP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10000"/>
                  </a:schemeClr>
                </a:solidFill>
              </a:rPr>
              <a:t>Outlook: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Comparative analysis with more AI models like Claude, Grok, Gemini, </a:t>
            </a:r>
            <a:r>
              <a:rPr lang="en-US" sz="1800" dirty="0" err="1">
                <a:solidFill>
                  <a:schemeClr val="accent4">
                    <a:lumMod val="10000"/>
                  </a:schemeClr>
                </a:solidFill>
              </a:rPr>
              <a:t>Qwen</a:t>
            </a: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Improved temporal modeling to capture impact of external events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Visual content and meme analysis could enrich understanding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Comparative analysis with Chinese-language discussions would provide balance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10000"/>
                  </a:schemeClr>
                </a:solidFill>
              </a:rPr>
              <a:t>Clustering framework could support recommendation systems to diversify content exposure</a:t>
            </a:r>
          </a:p>
        </p:txBody>
      </p:sp>
    </p:spTree>
    <p:extLst>
      <p:ext uri="{BB962C8B-B14F-4D97-AF65-F5344CB8AC3E}">
        <p14:creationId xmlns:p14="http://schemas.microsoft.com/office/powerpoint/2010/main" val="4176916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10EF6-A9B5-2E09-AC8B-48BB9E89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A73C-B20F-11A9-C1A5-0C2A40E7A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094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A68A237-E6DA-49F8-F002-8C97AFFAFF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112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A824440-422E-63B0-8439-8132274F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accent4">
                    <a:lumMod val="10000"/>
                  </a:schemeClr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Vertical Text Placeholder 6">
            <a:extLst>
              <a:ext uri="{FF2B5EF4-FFF2-40B4-BE49-F238E27FC236}">
                <a16:creationId xmlns:a16="http://schemas.microsoft.com/office/drawing/2014/main" id="{F6654C52-D380-23E2-C0AB-819A0C1AB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altLang="zh-CN" sz="1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Papers:</a:t>
            </a:r>
            <a:endParaRPr lang="en-US" sz="1800" b="0" i="0" dirty="0">
              <a:solidFill>
                <a:schemeClr val="accent4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Fast, E., &amp; Horvitz, E. (2017). Long-Term Trends in the Public Perception of Artificial Intelligence. </a:t>
            </a:r>
            <a:r>
              <a:rPr lang="en-US" sz="1800" b="0" i="1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Proceedings of the AAAI Conference on Artificial Intelligence</a:t>
            </a:r>
            <a:r>
              <a:rPr lang="en-US" sz="1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sz="1800" b="0" i="1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r>
              <a:rPr lang="en-US" sz="1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(1). </a:t>
            </a:r>
            <a:r>
              <a:rPr lang="en-US" sz="1800" b="0" i="0" dirty="0">
                <a:solidFill>
                  <a:schemeClr val="accent4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https://doi.org/10.1609/aaai.v31i1.10635</a:t>
            </a:r>
            <a:endParaRPr lang="en-US" sz="1800" b="0" i="0" dirty="0">
              <a:solidFill>
                <a:schemeClr val="accent4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Said, E. W. (1977). Orientalism. 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Georgia Review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(1), 162-206.</a:t>
            </a:r>
          </a:p>
          <a:p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Said, E. W. (2023). Orientalism. In 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Social theory re-wired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362-374). Routledge.</a:t>
            </a:r>
            <a:endParaRPr lang="en-US" sz="1800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Models:</a:t>
            </a:r>
            <a:endParaRPr lang="en-US" sz="1800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https://huggingface.co/SamLowe/roberta-base-go_emotions</a:t>
            </a:r>
            <a:endParaRPr lang="en-US" sz="1800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https://maartengr.github.io/BERTopic/index.html</a:t>
            </a:r>
            <a:r>
              <a:rPr lang="zh-CN" altLang="en-US" sz="1800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8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628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AB550-5D27-DEDA-6911-76C1D7F6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FC6AF-2DA1-C9C7-C318-08E4B28A3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AA8A2831-B849-DFCF-29CC-839B41539093}"/>
              </a:ext>
            </a:extLst>
          </p:cNvPr>
          <p:cNvSpPr txBox="1">
            <a:spLocks/>
          </p:cNvSpPr>
          <p:nvPr/>
        </p:nvSpPr>
        <p:spPr>
          <a:xfrm>
            <a:off x="886094" y="23855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accent4">
                    <a:lumMod val="10000"/>
                  </a:schemeClr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063078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951E-0843-0EE8-3D3E-B9199FE49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B02B-ECD4-F514-B156-CBBE60F57A87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zh-CN" altLang="en-US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lang="zh-CN" altLang="en-US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(hierarchical clustering)</a:t>
            </a:r>
            <a:endParaRPr lang="en-US" sz="3200" b="1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D6DF621-4724-6CAA-00DA-04F5C1E4A0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06"/>
          <a:stretch/>
        </p:blipFill>
        <p:spPr bwMode="auto">
          <a:xfrm>
            <a:off x="791202" y="1362833"/>
            <a:ext cx="4449082" cy="262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E62797-9FBD-BA5C-C2C2-6D37274D1E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03"/>
          <a:stretch/>
        </p:blipFill>
        <p:spPr bwMode="auto">
          <a:xfrm>
            <a:off x="8083889" y="3887605"/>
            <a:ext cx="3949571" cy="2303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A770A0-B131-CAC1-6842-D81E3CC66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71" b="20338"/>
          <a:stretch/>
        </p:blipFill>
        <p:spPr bwMode="auto">
          <a:xfrm>
            <a:off x="4103700" y="3990295"/>
            <a:ext cx="3945160" cy="240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00ADF1-EDF7-C253-5EB3-59780AD73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49" b="42084"/>
          <a:stretch/>
        </p:blipFill>
        <p:spPr bwMode="auto">
          <a:xfrm>
            <a:off x="158540" y="3816912"/>
            <a:ext cx="3945160" cy="247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EA9F3D-FB99-2A03-6779-0D79AEDF18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56" b="62877"/>
          <a:stretch/>
        </p:blipFill>
        <p:spPr bwMode="auto">
          <a:xfrm>
            <a:off x="6376868" y="1082442"/>
            <a:ext cx="4636410" cy="290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890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>
            <a:extLst>
              <a:ext uri="{FF2B5EF4-FFF2-40B4-BE49-F238E27FC236}">
                <a16:creationId xmlns:a16="http://schemas.microsoft.com/office/drawing/2014/main" id="{D3BE2E2B-CC92-32BF-6B4F-54FECDFA1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925" y="198964"/>
            <a:ext cx="8683711" cy="646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1826CB-FA9B-B499-BB17-C4BF203CA067}"/>
              </a:ext>
            </a:extLst>
          </p:cNvPr>
          <p:cNvSpPr txBox="1"/>
          <p:nvPr/>
        </p:nvSpPr>
        <p:spPr>
          <a:xfrm>
            <a:off x="159925" y="182753"/>
            <a:ext cx="6102926" cy="175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 Emotions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990041-2550-AED1-8323-AD972B51D92F}"/>
              </a:ext>
            </a:extLst>
          </p:cNvPr>
          <p:cNvCxnSpPr>
            <a:cxnSpLocks/>
          </p:cNvCxnSpPr>
          <p:nvPr/>
        </p:nvCxnSpPr>
        <p:spPr>
          <a:xfrm>
            <a:off x="4105994" y="434770"/>
            <a:ext cx="0" cy="5795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0D0EF10-A897-95E9-5090-DA282175527F}"/>
              </a:ext>
            </a:extLst>
          </p:cNvPr>
          <p:cNvCxnSpPr>
            <a:cxnSpLocks/>
          </p:cNvCxnSpPr>
          <p:nvPr/>
        </p:nvCxnSpPr>
        <p:spPr>
          <a:xfrm>
            <a:off x="6947860" y="434770"/>
            <a:ext cx="0" cy="5795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2A0F84-13AB-77E1-7CC3-0946B34A991C}"/>
              </a:ext>
            </a:extLst>
          </p:cNvPr>
          <p:cNvCxnSpPr>
            <a:cxnSpLocks/>
          </p:cNvCxnSpPr>
          <p:nvPr/>
        </p:nvCxnSpPr>
        <p:spPr>
          <a:xfrm>
            <a:off x="9783176" y="434770"/>
            <a:ext cx="0" cy="5795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582267A-464D-BA31-E8BE-34BE238DEAC6}"/>
              </a:ext>
            </a:extLst>
          </p:cNvPr>
          <p:cNvSpPr/>
          <p:nvPr/>
        </p:nvSpPr>
        <p:spPr>
          <a:xfrm>
            <a:off x="10173425" y="2573867"/>
            <a:ext cx="225778" cy="22577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6DB27A-A7C4-3A68-3536-F282FF45115F}"/>
              </a:ext>
            </a:extLst>
          </p:cNvPr>
          <p:cNvCxnSpPr>
            <a:cxnSpLocks/>
          </p:cNvCxnSpPr>
          <p:nvPr/>
        </p:nvCxnSpPr>
        <p:spPr>
          <a:xfrm>
            <a:off x="7680508" y="1885245"/>
            <a:ext cx="0" cy="1332088"/>
          </a:xfrm>
          <a:prstGeom prst="line">
            <a:avLst/>
          </a:prstGeom>
          <a:ln w="190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E0CF8B4-AA29-A763-32B0-7E34E85D5C85}"/>
              </a:ext>
            </a:extLst>
          </p:cNvPr>
          <p:cNvSpPr/>
          <p:nvPr/>
        </p:nvSpPr>
        <p:spPr>
          <a:xfrm>
            <a:off x="7567619" y="1885245"/>
            <a:ext cx="225778" cy="22577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554D71A-94A9-2031-BABF-1C5F277ABC18}"/>
              </a:ext>
            </a:extLst>
          </p:cNvPr>
          <p:cNvSpPr/>
          <p:nvPr/>
        </p:nvSpPr>
        <p:spPr>
          <a:xfrm>
            <a:off x="7324908" y="2111023"/>
            <a:ext cx="242711" cy="2427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9E83959-F6E7-2AF6-5BE6-033BBCE0ECDA}"/>
              </a:ext>
            </a:extLst>
          </p:cNvPr>
          <p:cNvSpPr/>
          <p:nvPr/>
        </p:nvSpPr>
        <p:spPr>
          <a:xfrm>
            <a:off x="4218884" y="2991555"/>
            <a:ext cx="225778" cy="22577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33EB4A6-1C99-841C-2FA4-2153B632324F}"/>
              </a:ext>
            </a:extLst>
          </p:cNvPr>
          <p:cNvSpPr/>
          <p:nvPr/>
        </p:nvSpPr>
        <p:spPr>
          <a:xfrm>
            <a:off x="4474123" y="2765777"/>
            <a:ext cx="225778" cy="22577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70CE7C-E895-EC32-FFDA-9EAD40A5DA65}"/>
              </a:ext>
            </a:extLst>
          </p:cNvPr>
          <p:cNvCxnSpPr>
            <a:cxnSpLocks/>
          </p:cNvCxnSpPr>
          <p:nvPr/>
        </p:nvCxnSpPr>
        <p:spPr>
          <a:xfrm>
            <a:off x="4331773" y="3104444"/>
            <a:ext cx="0" cy="112889"/>
          </a:xfrm>
          <a:prstGeom prst="line">
            <a:avLst/>
          </a:prstGeom>
          <a:ln w="190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40EC92-4F07-D2C4-E96F-FBBD2B326334}"/>
              </a:ext>
            </a:extLst>
          </p:cNvPr>
          <p:cNvCxnSpPr>
            <a:cxnSpLocks/>
          </p:cNvCxnSpPr>
          <p:nvPr/>
        </p:nvCxnSpPr>
        <p:spPr>
          <a:xfrm>
            <a:off x="4587012" y="2878666"/>
            <a:ext cx="0" cy="338667"/>
          </a:xfrm>
          <a:prstGeom prst="line">
            <a:avLst/>
          </a:prstGeom>
          <a:ln w="190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B9AA4CD-D401-B668-6025-4A5D15EC6858}"/>
              </a:ext>
            </a:extLst>
          </p:cNvPr>
          <p:cNvCxnSpPr>
            <a:cxnSpLocks/>
          </p:cNvCxnSpPr>
          <p:nvPr/>
        </p:nvCxnSpPr>
        <p:spPr>
          <a:xfrm>
            <a:off x="10286314" y="959556"/>
            <a:ext cx="0" cy="5270556"/>
          </a:xfrm>
          <a:prstGeom prst="line">
            <a:avLst/>
          </a:prstGeom>
          <a:ln w="190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491E0B-BFAE-7367-88EA-6D09EBDF793B}"/>
              </a:ext>
            </a:extLst>
          </p:cNvPr>
          <p:cNvCxnSpPr>
            <a:cxnSpLocks/>
          </p:cNvCxnSpPr>
          <p:nvPr/>
        </p:nvCxnSpPr>
        <p:spPr>
          <a:xfrm>
            <a:off x="7446263" y="2259120"/>
            <a:ext cx="0" cy="958213"/>
          </a:xfrm>
          <a:prstGeom prst="line">
            <a:avLst/>
          </a:prstGeom>
          <a:ln w="190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853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8BC0C144-94EF-BB2E-607D-F2CCFE8CE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1042416"/>
            <a:ext cx="9919787" cy="526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75280F-AABE-0AA8-B1F0-B4D578AA29F9}"/>
              </a:ext>
            </a:extLst>
          </p:cNvPr>
          <p:cNvSpPr txBox="1"/>
          <p:nvPr/>
        </p:nvSpPr>
        <p:spPr>
          <a:xfrm>
            <a:off x="543790" y="434770"/>
            <a:ext cx="7381009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Temporal Analysis of Sentiment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026710-A6C7-34FD-DD51-750D0000DB03}"/>
              </a:ext>
            </a:extLst>
          </p:cNvPr>
          <p:cNvSpPr/>
          <p:nvPr/>
        </p:nvSpPr>
        <p:spPr>
          <a:xfrm>
            <a:off x="6535231" y="3495236"/>
            <a:ext cx="249391" cy="249391"/>
          </a:xfrm>
          <a:prstGeom prst="ellipse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3E12A3-F599-82D4-268D-34A6CD6C85B1}"/>
              </a:ext>
            </a:extLst>
          </p:cNvPr>
          <p:cNvSpPr/>
          <p:nvPr/>
        </p:nvSpPr>
        <p:spPr>
          <a:xfrm>
            <a:off x="6285840" y="3744627"/>
            <a:ext cx="249391" cy="249391"/>
          </a:xfrm>
          <a:prstGeom prst="ellipse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C8D21A-A335-4D73-99AC-1605D1D42AC7}"/>
              </a:ext>
            </a:extLst>
          </p:cNvPr>
          <p:cNvCxnSpPr>
            <a:cxnSpLocks/>
          </p:cNvCxnSpPr>
          <p:nvPr/>
        </p:nvCxnSpPr>
        <p:spPr>
          <a:xfrm>
            <a:off x="6400800" y="3872089"/>
            <a:ext cx="0" cy="1557867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5FC94C-1A68-46D1-BC4B-026A7B1DF843}"/>
              </a:ext>
            </a:extLst>
          </p:cNvPr>
          <p:cNvCxnSpPr>
            <a:cxnSpLocks/>
          </p:cNvCxnSpPr>
          <p:nvPr/>
        </p:nvCxnSpPr>
        <p:spPr>
          <a:xfrm>
            <a:off x="6652361" y="3629378"/>
            <a:ext cx="0" cy="1800578"/>
          </a:xfrm>
          <a:prstGeom prst="line">
            <a:avLst/>
          </a:prstGeom>
          <a:ln w="19050">
            <a:solidFill>
              <a:srgbClr val="92D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60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E68C31F-D9B5-2CE3-B6B4-CA1D3A98F704}"/>
              </a:ext>
            </a:extLst>
          </p:cNvPr>
          <p:cNvGrpSpPr/>
          <p:nvPr/>
        </p:nvGrpSpPr>
        <p:grpSpPr>
          <a:xfrm>
            <a:off x="1651887" y="1690688"/>
            <a:ext cx="8888225" cy="4534267"/>
            <a:chOff x="996460" y="911104"/>
            <a:chExt cx="9714475" cy="4833204"/>
          </a:xfrm>
        </p:grpSpPr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EED0870C-120A-8172-7620-78D3AA0564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460" y="911104"/>
              <a:ext cx="9714475" cy="48332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710368E-F92E-CE3C-C68D-5FFF1C49702E}"/>
                </a:ext>
              </a:extLst>
            </p:cNvPr>
            <p:cNvSpPr/>
            <p:nvPr/>
          </p:nvSpPr>
          <p:spPr>
            <a:xfrm>
              <a:off x="5254906" y="2338086"/>
              <a:ext cx="520861" cy="31251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667F90-22C3-342F-7466-CB469C9D7765}"/>
                </a:ext>
              </a:extLst>
            </p:cNvPr>
            <p:cNvSpPr/>
            <p:nvPr/>
          </p:nvSpPr>
          <p:spPr>
            <a:xfrm>
              <a:off x="4894349" y="4624417"/>
              <a:ext cx="520861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F6DBC9E-E19B-D44C-2DE5-3A83BEC612BE}"/>
                </a:ext>
              </a:extLst>
            </p:cNvPr>
            <p:cNvSpPr/>
            <p:nvPr/>
          </p:nvSpPr>
          <p:spPr>
            <a:xfrm>
              <a:off x="4515209" y="5014929"/>
              <a:ext cx="520861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5C9B3A-5DB4-564A-4C4B-0F157A398E2D}"/>
                </a:ext>
              </a:extLst>
            </p:cNvPr>
            <p:cNvSpPr/>
            <p:nvPr/>
          </p:nvSpPr>
          <p:spPr>
            <a:xfrm>
              <a:off x="2783051" y="5260257"/>
              <a:ext cx="520861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A609AF1-F229-ED38-3973-CE08945CE6C2}"/>
                </a:ext>
              </a:extLst>
            </p:cNvPr>
            <p:cNvSpPr/>
            <p:nvPr/>
          </p:nvSpPr>
          <p:spPr>
            <a:xfrm>
              <a:off x="1299939" y="2119422"/>
              <a:ext cx="629222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DFB1C70-905B-73BE-2580-8479D79D22B2}"/>
                </a:ext>
              </a:extLst>
            </p:cNvPr>
            <p:cNvSpPr/>
            <p:nvPr/>
          </p:nvSpPr>
          <p:spPr>
            <a:xfrm>
              <a:off x="1614550" y="4739536"/>
              <a:ext cx="629222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38E78F-8322-D80D-FE10-D86237EEB81F}"/>
                </a:ext>
              </a:extLst>
            </p:cNvPr>
            <p:cNvSpPr/>
            <p:nvPr/>
          </p:nvSpPr>
          <p:spPr>
            <a:xfrm>
              <a:off x="3818773" y="5275753"/>
              <a:ext cx="520861" cy="1214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D25843-70A0-4466-D810-9CF9543E1E73}"/>
                </a:ext>
              </a:extLst>
            </p:cNvPr>
            <p:cNvSpPr/>
            <p:nvPr/>
          </p:nvSpPr>
          <p:spPr>
            <a:xfrm>
              <a:off x="10160786" y="2494344"/>
              <a:ext cx="520861" cy="1562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11B42A-3FBC-404E-7227-D9D14003C7E1}"/>
                </a:ext>
              </a:extLst>
            </p:cNvPr>
            <p:cNvSpPr/>
            <p:nvPr/>
          </p:nvSpPr>
          <p:spPr>
            <a:xfrm>
              <a:off x="9691869" y="4813059"/>
              <a:ext cx="580129" cy="1562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726AD4-49CD-2C35-D814-4114F0825813}"/>
                </a:ext>
              </a:extLst>
            </p:cNvPr>
            <p:cNvSpPr/>
            <p:nvPr/>
          </p:nvSpPr>
          <p:spPr>
            <a:xfrm>
              <a:off x="8900228" y="5232649"/>
              <a:ext cx="791641" cy="1645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176506-0F84-1207-C3C4-B97642825578}"/>
                </a:ext>
              </a:extLst>
            </p:cNvPr>
            <p:cNvSpPr/>
            <p:nvPr/>
          </p:nvSpPr>
          <p:spPr>
            <a:xfrm>
              <a:off x="7059709" y="1388989"/>
              <a:ext cx="629222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B1691A0-C0F3-94E7-81D6-6A884AC768AB}"/>
                </a:ext>
              </a:extLst>
            </p:cNvPr>
            <p:cNvSpPr/>
            <p:nvPr/>
          </p:nvSpPr>
          <p:spPr>
            <a:xfrm>
              <a:off x="6745098" y="4952991"/>
              <a:ext cx="580129" cy="2149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DB06C3-1F8F-D9E3-303F-696C934293BB}"/>
                </a:ext>
              </a:extLst>
            </p:cNvPr>
            <p:cNvSpPr/>
            <p:nvPr/>
          </p:nvSpPr>
          <p:spPr>
            <a:xfrm>
              <a:off x="8385367" y="5353814"/>
              <a:ext cx="502723" cy="1645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20C7C4F-DFE5-E6C7-D6C2-9832996E4A14}"/>
                </a:ext>
              </a:extLst>
            </p:cNvPr>
            <p:cNvSpPr/>
            <p:nvPr/>
          </p:nvSpPr>
          <p:spPr>
            <a:xfrm>
              <a:off x="3558342" y="5375365"/>
              <a:ext cx="781292" cy="1214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E3210A6C-41BF-6D2A-4038-82292432D984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Emotions</a:t>
            </a:r>
            <a:r>
              <a:rPr lang="zh-CN" altLang="en-US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endParaRPr lang="en-US" sz="3200" b="1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698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6FEE-07ED-7DD1-3112-E1D11FF51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ADE1-A5DE-0835-B4DB-652A0C7B721E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Theme-Sentiment Relationship of ChatGPT</a:t>
            </a:r>
            <a:endParaRPr lang="en-US" sz="3200" b="1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549E10CD-B0C4-A01B-1721-3EBAB8CE4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524" y="835306"/>
            <a:ext cx="9362482" cy="557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21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6E866-EB8D-9498-0232-294B6E6E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6E4B-E520-00F5-5A47-9E96F2A1ED61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Theme-Sentiment Relationship of </a:t>
            </a:r>
            <a:r>
              <a:rPr lang="en-US" altLang="zh-CN" sz="3200" b="1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endParaRPr lang="en-US" sz="3200" b="1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hart with different colored numbers&#10;&#10;Description automatically generated with medium confidence">
            <a:extLst>
              <a:ext uri="{FF2B5EF4-FFF2-40B4-BE49-F238E27FC236}">
                <a16:creationId xmlns:a16="http://schemas.microsoft.com/office/drawing/2014/main" id="{4A112690-DF15-E472-207B-0DC08F9E0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" t="3253"/>
          <a:stretch/>
        </p:blipFill>
        <p:spPr>
          <a:xfrm>
            <a:off x="1156994" y="982480"/>
            <a:ext cx="9675444" cy="56131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D2CC98-D7A8-E435-BEE9-6279FB294F38}"/>
              </a:ext>
            </a:extLst>
          </p:cNvPr>
          <p:cNvSpPr/>
          <p:nvPr/>
        </p:nvSpPr>
        <p:spPr>
          <a:xfrm>
            <a:off x="5296086" y="1983946"/>
            <a:ext cx="892097" cy="2453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AA42E9-89A0-E83C-B9A9-D53817D7EFF1}"/>
              </a:ext>
            </a:extLst>
          </p:cNvPr>
          <p:cNvSpPr/>
          <p:nvPr/>
        </p:nvSpPr>
        <p:spPr>
          <a:xfrm>
            <a:off x="8264838" y="5976826"/>
            <a:ext cx="892097" cy="2453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10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FA3D-2535-D7EE-6DE1-9E13E26BC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0D94-7AC1-D36E-1A67-ECF9CCDE9685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Terms Distribution</a:t>
            </a:r>
            <a:endParaRPr lang="en-US" sz="3200" b="1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7B24306-4722-9DC6-DB2D-98F1E4817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025" y="870378"/>
            <a:ext cx="7190689" cy="598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667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0FB1-C6FB-6F91-CFAD-49B98C557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54BC-A0CD-4248-2215-062A3C4D76C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8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Word Analysis</a:t>
            </a: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67BE43CC-7272-6F0F-E6AD-7DC652BD2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7405" y="1470284"/>
            <a:ext cx="5986075" cy="4833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33A17480-B938-94A2-769D-81027E805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1224" y="1470285"/>
            <a:ext cx="6023371" cy="4833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7205859-A16C-0AC5-7D5A-C9A4EA93C0DE}"/>
              </a:ext>
            </a:extLst>
          </p:cNvPr>
          <p:cNvSpPr txBox="1">
            <a:spLocks/>
          </p:cNvSpPr>
          <p:nvPr/>
        </p:nvSpPr>
        <p:spPr>
          <a:xfrm>
            <a:off x="1156994" y="262353"/>
            <a:ext cx="10439749" cy="8200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 Word Usage of ‘ChatGPT’ and ‘</a:t>
            </a:r>
            <a:r>
              <a:rPr lang="en-US" altLang="zh-CN" sz="3200" b="1" dirty="0" err="1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r>
              <a:rPr lang="en-US" altLang="zh-CN" sz="3200" b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endParaRPr lang="en-US" sz="3200" b="1" dirty="0">
              <a:solidFill>
                <a:schemeClr val="accent4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58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PME">
      <a:dk1>
        <a:srgbClr val="FFFFFF"/>
      </a:dk1>
      <a:lt1>
        <a:srgbClr val="FFFFFF"/>
      </a:lt1>
      <a:dk2>
        <a:srgbClr val="800000"/>
      </a:dk2>
      <a:lt2>
        <a:srgbClr val="007396"/>
      </a:lt2>
      <a:accent1>
        <a:srgbClr val="737373"/>
      </a:accent1>
      <a:accent2>
        <a:srgbClr val="800000"/>
      </a:accent2>
      <a:accent3>
        <a:srgbClr val="007396"/>
      </a:accent3>
      <a:accent4>
        <a:srgbClr val="D9D9D9"/>
      </a:accent4>
      <a:accent5>
        <a:srgbClr val="A6A6A6"/>
      </a:accent5>
      <a:accent6>
        <a:srgbClr val="737373"/>
      </a:accent6>
      <a:hlink>
        <a:srgbClr val="007396"/>
      </a:hlink>
      <a:folHlink>
        <a:srgbClr val="D9D9D9"/>
      </a:folHlink>
    </a:clrScheme>
    <a:fontScheme name="UCP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1978</TotalTime>
  <Words>1389</Words>
  <Application>Microsoft Macintosh PowerPoint</Application>
  <PresentationFormat>Widescreen</PresentationFormat>
  <Paragraphs>194</Paragraphs>
  <Slides>37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Courier New</vt:lpstr>
      <vt:lpstr>Roboto</vt:lpstr>
      <vt:lpstr>Office Theme</vt:lpstr>
      <vt:lpstr>Narratives of AI Innovation:   A Textual Analysis of Western Social Media’s View on ChatGPT and DeepSeek</vt:lpstr>
      <vt:lpstr>PowerPoint Presentation</vt:lpstr>
      <vt:lpstr>PowerPoint Presentation</vt:lpstr>
      <vt:lpstr>Project Overview</vt:lpstr>
      <vt:lpstr>PowerPoint Presentation</vt:lpstr>
      <vt:lpstr>PowerPoint Presentation</vt:lpstr>
      <vt:lpstr>Data Processing &amp; EDA</vt:lpstr>
      <vt:lpstr>Exploratory Data Analysis</vt:lpstr>
      <vt:lpstr>PowerPoint Presentation</vt:lpstr>
      <vt:lpstr>Emotional Narratives</vt:lpstr>
      <vt:lpstr>PowerPoint Presentation</vt:lpstr>
      <vt:lpstr>PowerPoint Presentation</vt:lpstr>
      <vt:lpstr>PowerPoint Presentation</vt:lpstr>
      <vt:lpstr>Clustering (r/DeepSeek)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Discussions</vt:lpstr>
      <vt:lpstr>THANK YOU! </vt:lpstr>
      <vt:lpstr>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UCLA IT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Kristina Hordzwick</dc:creator>
  <cp:lastModifiedBy>Yolanda Pan</cp:lastModifiedBy>
  <cp:revision>57</cp:revision>
  <dcterms:created xsi:type="dcterms:W3CDTF">2022-05-29T00:53:26Z</dcterms:created>
  <dcterms:modified xsi:type="dcterms:W3CDTF">2025-03-10T00:55:53Z</dcterms:modified>
</cp:coreProperties>
</file>